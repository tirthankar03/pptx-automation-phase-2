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6"/>
  </p:notesMasterIdLst>
  <p:sldIdLst>
    <p:sldId id="27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80F244-EFC8-0A06-18E1-4AA204B27D77}" name="Rengaraj S (Product Management/Chennai)" initials="RS" userId="S::5034524@TVSCREDIT.COM::05f14818-769b-4b16-98a0-e63808bc5ffa" providerId="AD"/>
  <p188:author id="{A71E617D-7E4E-DFDC-2844-471DF424763C}" name="Lohith Kumar M R (Product Management/Chennai)" initials="LKMR(M" userId="S::5075483@TVSCREDIT.COM::76f6508b-3978-4377-83f2-fbd10a76dff0" providerId="AD"/>
  <p188:author id="{50D730C7-4BE5-82F4-78E9-C218386C82F4}" name="Anubhav Deep Saxena (Fintech/Bangalore)" initials="A" userId="S::5050798@TVSCREDIT.COM::2dad5281-7cd1-4c1d-bd24-3d93ef96a60a" providerId="AD"/>
  <p188:author id="{2EDDB7CE-49EB-C747-32EB-E6EBD7CB427A}" name="Keyur Parikh Bakulesh (Strategy/Mumbai)" initials="KPB(" userId="S::5056122@TVSCREDIT.COM::a1f942f6-8406-4d9d-aa12-b30dc94e0d5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9143"/>
    <a:srgbClr val="FFFFFF"/>
    <a:srgbClr val="4F81BD"/>
    <a:srgbClr val="92D050"/>
    <a:srgbClr val="0000FF"/>
    <a:srgbClr val="00B050"/>
    <a:srgbClr val="70AD47"/>
    <a:srgbClr val="FF0000"/>
    <a:srgbClr val="114A84"/>
    <a:srgbClr val="1737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–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8/10/relationships/authors" Target="authors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A4CA19-5703-4D0A-8A1F-2140253D3237}" type="datetimeFigureOut">
              <a:rPr lang="en-US" smtClean="0"/>
              <a:t>04/12/2025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328387-41ED-4EF7-8E27-25814672F6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283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C682FD-3A08-4969-A369-4828B3232A0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5864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7.png"/><Relationship Id="rId4" Type="http://schemas.openxmlformats.org/officeDocument/2006/relationships/image" Target="../media/image5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.bin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8.jpe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oleObject" Target="../embeddings/oleObject4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200" y="3022602"/>
            <a:ext cx="10363200" cy="912769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lang="en-US" sz="5333" b="1" kern="1200" dirty="0" smtClean="0">
                <a:solidFill>
                  <a:srgbClr val="114A84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 userDrawn="1"/>
        </p:nvSpPr>
        <p:spPr>
          <a:xfrm>
            <a:off x="0" y="4965171"/>
            <a:ext cx="12192000" cy="80724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/>
          </a:p>
        </p:txBody>
      </p:sp>
      <p:pic>
        <p:nvPicPr>
          <p:cNvPr id="9" name="Picture 2" descr="E:\TVS\TVS Credit New Identity\Corporate PPT\For PPT\TVS Credit Logo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373" y="452671"/>
            <a:ext cx="2688299" cy="513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771" y="243547"/>
            <a:ext cx="1495588" cy="1526068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0" y="5703785"/>
            <a:ext cx="12192000" cy="68627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101600" y="5107862"/>
            <a:ext cx="11830757" cy="461513"/>
          </a:xfrm>
        </p:spPr>
        <p:txBody>
          <a:bodyPr>
            <a:noAutofit/>
          </a:bodyPr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6095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5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13" name="Rectangle 12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640339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00" y="22016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4217492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2667" b="1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/>
          </a:bodyPr>
          <a:lstStyle>
            <a:lvl1pPr marL="0" indent="0">
              <a:buNone/>
              <a:defRPr lang="en-US" sz="5333" b="1" kern="1200" dirty="0" smtClean="0">
                <a:solidFill>
                  <a:srgbClr val="114A84"/>
                </a:solidFill>
                <a:latin typeface="+mn-lt"/>
                <a:ea typeface="+mn-ea"/>
                <a:cs typeface="+mn-cs"/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560129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7" name="Rectangle 6"/>
          <p:cNvSpPr/>
          <p:nvPr userDrawn="1"/>
        </p:nvSpPr>
        <p:spPr>
          <a:xfrm>
            <a:off x="6109547" y="1"/>
            <a:ext cx="6096000" cy="685800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8" name="Picture 2" descr="E:\TVS\TVS Credit New Identity\Corporate PPT\For PPT\TVS Credit Logo-01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208" y="2887967"/>
            <a:ext cx="3827664" cy="73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77282" y="2929173"/>
            <a:ext cx="5849756" cy="1362075"/>
          </a:xfrm>
          <a:prstGeom prst="rect">
            <a:avLst/>
          </a:prstGeom>
        </p:spPr>
        <p:txBody>
          <a:bodyPr anchor="t">
            <a:noAutofit/>
          </a:bodyPr>
          <a:lstStyle>
            <a:lvl1pPr algn="l">
              <a:defRPr sz="4267" b="1" cap="none">
                <a:latin typeface="+mn-lt"/>
              </a:defRPr>
            </a:lvl1pPr>
          </a:lstStyle>
          <a:p>
            <a:r>
              <a:rPr lang="en-US"/>
              <a:t>Section Break Title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197600" y="4849297"/>
            <a:ext cx="5872480" cy="1127113"/>
          </a:xfrm>
        </p:spPr>
        <p:txBody>
          <a:bodyPr anchor="t"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4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2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84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41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698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557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0" y="6759492"/>
            <a:ext cx="12192000" cy="112057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11" name="Rectangle 10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979412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827" y="15242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2"/>
            <a:ext cx="5384800" cy="4464049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2"/>
            <a:ext cx="5384800" cy="4464049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107577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73" y="22016"/>
            <a:ext cx="10972800" cy="858753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76352"/>
            <a:ext cx="5386917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16112"/>
            <a:ext cx="5386917" cy="3951288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276352"/>
            <a:ext cx="5389033" cy="639763"/>
          </a:xfrm>
        </p:spPr>
        <p:txBody>
          <a:bodyPr anchor="b"/>
          <a:lstStyle>
            <a:lvl1pPr marL="0" indent="0">
              <a:buNone/>
              <a:defRPr sz="2667" b="1"/>
            </a:lvl1pPr>
            <a:lvl2pPr marL="609570" indent="0">
              <a:buNone/>
              <a:defRPr sz="2667" b="1"/>
            </a:lvl2pPr>
            <a:lvl3pPr marL="1219140" indent="0">
              <a:buNone/>
              <a:defRPr sz="2400" b="1"/>
            </a:lvl3pPr>
            <a:lvl4pPr marL="1828709" indent="0">
              <a:buNone/>
              <a:defRPr sz="2133" b="1"/>
            </a:lvl4pPr>
            <a:lvl5pPr marL="2438278" indent="0">
              <a:buNone/>
              <a:defRPr sz="2133" b="1"/>
            </a:lvl5pPr>
            <a:lvl6pPr marL="3047848" indent="0">
              <a:buNone/>
              <a:defRPr sz="2133" b="1"/>
            </a:lvl6pPr>
            <a:lvl7pPr marL="3657418" indent="0">
              <a:buNone/>
              <a:defRPr sz="2133" b="1"/>
            </a:lvl7pPr>
            <a:lvl8pPr marL="4266987" indent="0">
              <a:buNone/>
              <a:defRPr sz="2133" b="1"/>
            </a:lvl8pPr>
            <a:lvl9pPr marL="4876557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1916112"/>
            <a:ext cx="5389033" cy="3951288"/>
          </a:xfrm>
        </p:spPr>
        <p:txBody>
          <a:bodyPr>
            <a:normAutofit/>
          </a:bodyPr>
          <a:lstStyle>
            <a:lvl1pPr>
              <a:defRPr sz="2667"/>
            </a:lvl1pPr>
            <a:lvl2pPr>
              <a:defRPr sz="2400"/>
            </a:lvl2pPr>
            <a:lvl3pPr>
              <a:defRPr sz="2133"/>
            </a:lvl3pPr>
            <a:lvl4pPr>
              <a:defRPr sz="1867"/>
            </a:lvl4pPr>
            <a:lvl5pPr>
              <a:defRPr sz="1867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054673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" y="16702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4" name="Rectangle 3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125147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3" name="Rectangle 2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476695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1452630"/>
            <a:ext cx="4011084" cy="960372"/>
          </a:xfrm>
          <a:prstGeom prst="rect">
            <a:avLst/>
          </a:prstGeom>
        </p:spPr>
        <p:txBody>
          <a:bodyPr anchor="b"/>
          <a:lstStyle>
            <a:lvl1pPr algn="l"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446634"/>
            <a:ext cx="6815667" cy="483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  <a:lvl2pPr>
              <a:defRPr sz="2667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133">
                <a:solidFill>
                  <a:schemeClr val="tx1"/>
                </a:solidFill>
              </a:defRPr>
            </a:lvl4pPr>
            <a:lvl5pPr>
              <a:defRPr sz="2133">
                <a:solidFill>
                  <a:schemeClr val="tx1"/>
                </a:solidFill>
              </a:defRPr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2616200"/>
            <a:ext cx="4011084" cy="36576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3072368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247542"/>
            <a:ext cx="7315200" cy="3400660"/>
          </a:xfrm>
        </p:spPr>
        <p:txBody>
          <a:bodyPr/>
          <a:lstStyle>
            <a:lvl1pPr marL="0" indent="0">
              <a:buNone/>
              <a:defRPr sz="4267"/>
            </a:lvl1pPr>
            <a:lvl2pPr marL="609570" indent="0">
              <a:buNone/>
              <a:defRPr sz="3733"/>
            </a:lvl2pPr>
            <a:lvl3pPr marL="1219140" indent="0">
              <a:buNone/>
              <a:defRPr sz="3200"/>
            </a:lvl3pPr>
            <a:lvl4pPr marL="1828709" indent="0">
              <a:buNone/>
              <a:defRPr sz="2667"/>
            </a:lvl4pPr>
            <a:lvl5pPr marL="2438278" indent="0">
              <a:buNone/>
              <a:defRPr sz="2667"/>
            </a:lvl5pPr>
            <a:lvl6pPr marL="3047848" indent="0">
              <a:buNone/>
              <a:defRPr sz="2667"/>
            </a:lvl6pPr>
            <a:lvl7pPr marL="3657418" indent="0">
              <a:buNone/>
              <a:defRPr sz="2667"/>
            </a:lvl7pPr>
            <a:lvl8pPr marL="4266987" indent="0">
              <a:buNone/>
              <a:defRPr sz="2667"/>
            </a:lvl8pPr>
            <a:lvl9pPr marL="4876557" indent="0">
              <a:buNone/>
              <a:defRPr sz="2667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70" indent="0">
              <a:buNone/>
              <a:defRPr sz="1600"/>
            </a:lvl2pPr>
            <a:lvl3pPr marL="1219140" indent="0">
              <a:buNone/>
              <a:defRPr sz="1333"/>
            </a:lvl3pPr>
            <a:lvl4pPr marL="1828709" indent="0">
              <a:buNone/>
              <a:defRPr sz="1200"/>
            </a:lvl4pPr>
            <a:lvl5pPr marL="2438278" indent="0">
              <a:buNone/>
              <a:defRPr sz="1200"/>
            </a:lvl5pPr>
            <a:lvl6pPr marL="3047848" indent="0">
              <a:buNone/>
              <a:defRPr sz="1200"/>
            </a:lvl6pPr>
            <a:lvl7pPr marL="3657418" indent="0">
              <a:buNone/>
              <a:defRPr sz="1200"/>
            </a:lvl7pPr>
            <a:lvl8pPr marL="4266987" indent="0">
              <a:buNone/>
              <a:defRPr sz="1200"/>
            </a:lvl8pPr>
            <a:lvl9pPr marL="487655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6" name="Rectangle 5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021970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" y="15242"/>
            <a:ext cx="10972800" cy="85875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1397001"/>
            <a:ext cx="10972800" cy="4525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40674274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377949"/>
            <a:ext cx="2743200" cy="4387851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667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377949"/>
            <a:ext cx="8026400" cy="43878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-460" y="6396992"/>
            <a:ext cx="511663" cy="365125"/>
          </a:xfrm>
          <a:prstGeom prst="rect">
            <a:avLst/>
          </a:prstGeom>
        </p:spPr>
        <p:txBody>
          <a:bodyPr/>
          <a:lstStyle/>
          <a:p>
            <a:fld id="{2771CCCF-CF39-430E-99CC-5ACEF198A403}" type="slidenum">
              <a:rPr lang="en-IN" smtClean="0"/>
              <a:t>‹#›</a:t>
            </a:fld>
            <a:endParaRPr lang="en-IN"/>
          </a:p>
        </p:txBody>
      </p:sp>
      <p:sp>
        <p:nvSpPr>
          <p:cNvPr id="5" name="Rectangle 4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5333877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20" y="2120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20" y="2120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45D9F-CFE7-48B1-9820-C2C5F43D8E47}"/>
              </a:ext>
            </a:extLst>
          </p:cNvPr>
          <p:cNvCxnSpPr/>
          <p:nvPr userDrawn="1"/>
        </p:nvCxnSpPr>
        <p:spPr>
          <a:xfrm>
            <a:off x="203200" y="6457153"/>
            <a:ext cx="11780784" cy="1587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4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5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03201" y="73027"/>
            <a:ext cx="11360003" cy="790572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2400" b="1" i="0" u="none" kern="1200" spc="0">
                <a:solidFill>
                  <a:srgbClr val="009933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E3B9BD-B58B-4C38-B6F3-9278BD7C7D97}"/>
              </a:ext>
            </a:extLst>
          </p:cNvPr>
          <p:cNvCxnSpPr/>
          <p:nvPr userDrawn="1"/>
        </p:nvCxnSpPr>
        <p:spPr>
          <a:xfrm>
            <a:off x="203200" y="949327"/>
            <a:ext cx="11780784" cy="1588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10">
            <a:extLst>
              <a:ext uri="{FF2B5EF4-FFF2-40B4-BE49-F238E27FC236}">
                <a16:creationId xmlns:a16="http://schemas.microsoft.com/office/drawing/2014/main" id="{0D112B3D-AE0C-4C8E-BEEB-CB25F6CC04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08686" y="6520935"/>
            <a:ext cx="1574633" cy="184650"/>
          </a:xfrm>
          <a:prstGeom prst="rect">
            <a:avLst/>
          </a:prstGeom>
          <a:solidFill>
            <a:srgbClr val="009933"/>
          </a:solidFill>
          <a:ln w="4763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60944" tIns="30472" rIns="60944" bIns="30472">
            <a:spAutoFit/>
          </a:bodyPr>
          <a:lstStyle/>
          <a:p>
            <a:pPr marL="0" indent="0">
              <a:defRPr/>
            </a:pPr>
            <a:r>
              <a:rPr lang="en-US" sz="800">
                <a:solidFill>
                  <a:prstClr val="white"/>
                </a:solidFill>
                <a:latin typeface="+mn-lt"/>
                <a:ea typeface="+mn-ea"/>
                <a:cs typeface="+mn-cs"/>
                <a:sym typeface="+mn-lt"/>
              </a:rPr>
              <a:t>Confidential – Not for circulation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40194"/>
            <a:ext cx="553984" cy="3181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FDF199D-4355-4D8C-A461-2799AD0096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1" y="1152524"/>
            <a:ext cx="10953603" cy="180478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2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2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73A"/>
              </a:buClr>
              <a:buFont typeface="Arial" panose="020B0604020202020204" pitchFamily="34" charset="0"/>
              <a:buChar char="•"/>
              <a:defRPr sz="2132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bk object 19">
            <a:extLst>
              <a:ext uri="{FF2B5EF4-FFF2-40B4-BE49-F238E27FC236}">
                <a16:creationId xmlns:a16="http://schemas.microsoft.com/office/drawing/2014/main" id="{93EBE519-2FEF-4E08-9145-23D703ABE626}"/>
              </a:ext>
            </a:extLst>
          </p:cNvPr>
          <p:cNvSpPr/>
          <p:nvPr userDrawn="1"/>
        </p:nvSpPr>
        <p:spPr>
          <a:xfrm>
            <a:off x="10011025" y="6509008"/>
            <a:ext cx="1420367" cy="2727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/>
          </a:p>
        </p:txBody>
      </p:sp>
    </p:spTree>
    <p:extLst>
      <p:ext uri="{BB962C8B-B14F-4D97-AF65-F5344CB8AC3E}">
        <p14:creationId xmlns:p14="http://schemas.microsoft.com/office/powerpoint/2010/main" val="3895800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Green one third">
    <p:bg>
      <p:bgPr>
        <a:gradFill flip="none" rotWithShape="1">
          <a:gsLst>
            <a:gs pos="20000">
              <a:schemeClr val="accent1"/>
            </a:gs>
            <a:gs pos="100000">
              <a:schemeClr val="accent2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A1F84A1-F987-437E-8325-D683438A793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1119430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27" imgH="327" progId="TCLayout.ActiveDocument.1">
                  <p:embed/>
                </p:oleObj>
              </mc:Choice>
              <mc:Fallback>
                <p:oleObj name="think-cell Slide" r:id="rId3" imgW="327" imgH="327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A1F84A1-F987-437E-8325-D683438A79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98" t="8741" r="101" b="27"/>
          <a:stretch/>
        </p:blipFill>
        <p:spPr bwMode="ltGray">
          <a:xfrm flipH="1">
            <a:off x="3671071" y="0"/>
            <a:ext cx="416951" cy="6858000"/>
          </a:xfrm>
          <a:prstGeom prst="rect">
            <a:avLst/>
          </a:prstGeom>
        </p:spPr>
      </p:pic>
      <p:sp>
        <p:nvSpPr>
          <p:cNvPr id="11" name="Title 4"/>
          <p:cNvSpPr>
            <a:spLocks noGrp="1"/>
          </p:cNvSpPr>
          <p:nvPr>
            <p:ph type="title" hasCustomPrompt="1"/>
          </p:nvPr>
        </p:nvSpPr>
        <p:spPr>
          <a:xfrm>
            <a:off x="630002" y="2681104"/>
            <a:ext cx="3127881" cy="1495795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>
              <a:defRPr sz="3467">
                <a:solidFill>
                  <a:schemeClr val="bg1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3" name="Rectangle 12"/>
          <p:cNvSpPr/>
          <p:nvPr userDrawn="1"/>
        </p:nvSpPr>
        <p:spPr bwMode="white">
          <a:xfrm>
            <a:off x="4080764" y="-1309"/>
            <a:ext cx="8111237" cy="685930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/>
            <a:endParaRPr lang="en-US" sz="1200">
              <a:solidFill>
                <a:schemeClr val="bg1"/>
              </a:solidFill>
              <a:latin typeface="+mn-lt"/>
              <a:ea typeface="+mn-ea"/>
              <a:cs typeface="+mn-cs"/>
              <a:sym typeface="+mn-lt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31EA6E0-D7B0-43F0-BCB3-34E24BAAC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79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chemeClr val="accent1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324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6447585"/>
              </p:ext>
            </p:extLst>
          </p:nvPr>
        </p:nvGraphicFramePr>
        <p:xfrm>
          <a:off x="2119" y="2119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9" y="2119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1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7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203201" y="73027"/>
            <a:ext cx="11360003" cy="790572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l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defRPr sz="3200" b="0" i="0" u="none" kern="1200" spc="0">
                <a:solidFill>
                  <a:srgbClr val="009933"/>
                </a:solidFill>
                <a:latin typeface="+mj-lt"/>
                <a:ea typeface="+mj-ea"/>
                <a:cs typeface="+mj-cs"/>
                <a:sym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E3B9BD-B58B-4C38-B6F3-9278BD7C7D97}"/>
              </a:ext>
            </a:extLst>
          </p:cNvPr>
          <p:cNvCxnSpPr/>
          <p:nvPr userDrawn="1"/>
        </p:nvCxnSpPr>
        <p:spPr>
          <a:xfrm>
            <a:off x="203200" y="949327"/>
            <a:ext cx="11780784" cy="1588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2B45D9F-CFE7-48B1-9820-C2C5F43D8E47}"/>
              </a:ext>
            </a:extLst>
          </p:cNvPr>
          <p:cNvCxnSpPr/>
          <p:nvPr userDrawn="1"/>
        </p:nvCxnSpPr>
        <p:spPr>
          <a:xfrm>
            <a:off x="203200" y="6364292"/>
            <a:ext cx="11780784" cy="1587"/>
          </a:xfrm>
          <a:prstGeom prst="line">
            <a:avLst/>
          </a:prstGeom>
          <a:ln w="38100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Box 10">
            <a:extLst>
              <a:ext uri="{FF2B5EF4-FFF2-40B4-BE49-F238E27FC236}">
                <a16:creationId xmlns:a16="http://schemas.microsoft.com/office/drawing/2014/main" id="{0D112B3D-AE0C-4C8E-BEEB-CB25F6CC043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08685" y="6428076"/>
            <a:ext cx="1574633" cy="184666"/>
          </a:xfrm>
          <a:prstGeom prst="rect">
            <a:avLst/>
          </a:prstGeom>
          <a:solidFill>
            <a:srgbClr val="009933"/>
          </a:solidFill>
          <a:ln w="4763" cap="flat" cmpd="sng" algn="ctr">
            <a:solidFill>
              <a:srgbClr val="009933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wrap="square" lIns="60960" tIns="30480" rIns="60960" bIns="30480">
            <a:spAutoFit/>
          </a:bodyPr>
          <a:lstStyle/>
          <a:p>
            <a:pPr marL="0" indent="0">
              <a:defRPr/>
            </a:pPr>
            <a:r>
              <a:rPr lang="en-US" sz="800">
                <a:solidFill>
                  <a:prstClr val="white"/>
                </a:solidFill>
                <a:latin typeface="+mn-lt"/>
                <a:ea typeface="+mn-ea"/>
                <a:cs typeface="+mn-cs"/>
                <a:sym typeface="+mn-lt"/>
              </a:rPr>
              <a:t>Confidential – Not for circulation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79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FDF199D-4355-4D8C-A461-2799AD0096F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1152523"/>
            <a:ext cx="10953603" cy="5022239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133">
                <a:latin typeface="+mn-lt"/>
                <a:ea typeface="+mn-ea"/>
                <a:cs typeface="+mn-cs"/>
                <a:sym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33">
                <a:latin typeface="+mn-lt"/>
                <a:ea typeface="+mn-ea"/>
                <a:cs typeface="+mn-cs"/>
                <a:sym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7373A"/>
              </a:buClr>
              <a:buFont typeface="Arial" panose="020B0604020202020204" pitchFamily="34" charset="0"/>
              <a:buChar char="•"/>
              <a:defRPr sz="2133">
                <a:latin typeface="+mn-lt"/>
                <a:ea typeface="+mn-ea"/>
                <a:cs typeface="+mn-cs"/>
                <a:sym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67">
                <a:latin typeface="+mn-lt"/>
                <a:ea typeface="+mn-ea"/>
                <a:cs typeface="+mn-cs"/>
                <a:sym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1443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6FCD5FC-E863-40C1-BE17-2707E7E809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1015265"/>
              </p:ext>
            </p:extLst>
          </p:nvPr>
        </p:nvGraphicFramePr>
        <p:xfrm>
          <a:off x="2118" y="2120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27" imgH="327" progId="TCLayout.ActiveDocument.1">
                  <p:embed/>
                </p:oleObj>
              </mc:Choice>
              <mc:Fallback>
                <p:oleObj name="think-cell Slide" r:id="rId4" imgW="327" imgH="327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6FCD5FC-E863-40C1-BE17-2707E7E809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20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7" hidden="1">
            <a:extLst>
              <a:ext uri="{FF2B5EF4-FFF2-40B4-BE49-F238E27FC236}">
                <a16:creationId xmlns:a16="http://schemas.microsoft.com/office/drawing/2014/main" id="{676EC637-D416-41F6-8076-CDC612DACFF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2"/>
            <a:ext cx="211667" cy="211667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/>
            <a:endParaRPr lang="en-US" sz="3466" b="0" i="0" baseline="0">
              <a:solidFill>
                <a:srgbClr val="FFFFFF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AD1DA85-1443-49FD-90A1-29073861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30000" y="6416680"/>
            <a:ext cx="553984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467">
                <a:solidFill>
                  <a:srgbClr val="009933"/>
                </a:solidFill>
              </a:defRPr>
            </a:lvl1pPr>
          </a:lstStyle>
          <a:p>
            <a:fld id="{741E28E5-5E6E-4370-B422-796D2EBFC73E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11" name="bk object 19">
            <a:extLst>
              <a:ext uri="{FF2B5EF4-FFF2-40B4-BE49-F238E27FC236}">
                <a16:creationId xmlns:a16="http://schemas.microsoft.com/office/drawing/2014/main" id="{93EBE519-2FEF-4E08-9145-23D703ABE626}"/>
              </a:ext>
            </a:extLst>
          </p:cNvPr>
          <p:cNvSpPr/>
          <p:nvPr userDrawn="1"/>
        </p:nvSpPr>
        <p:spPr>
          <a:xfrm>
            <a:off x="9817009" y="6467445"/>
            <a:ext cx="1420366" cy="27279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20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01D8EE-17A3-C372-45F0-8D6B989A75D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0" cy="62484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E20774-B552-ADC0-7943-E85083954688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82595" y="117762"/>
            <a:ext cx="701390" cy="53345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816F364-B4BD-0C1B-7613-FD66570646C8}"/>
              </a:ext>
            </a:extLst>
          </p:cNvPr>
          <p:cNvSpPr/>
          <p:nvPr userDrawn="1"/>
        </p:nvSpPr>
        <p:spPr>
          <a:xfrm>
            <a:off x="-1" y="6812280"/>
            <a:ext cx="9237846" cy="45720"/>
          </a:xfrm>
          <a:prstGeom prst="rect">
            <a:avLst/>
          </a:prstGeom>
          <a:solidFill>
            <a:srgbClr val="164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2739F2-6420-739D-3615-21A52ADB357F}"/>
              </a:ext>
            </a:extLst>
          </p:cNvPr>
          <p:cNvSpPr/>
          <p:nvPr userDrawn="1"/>
        </p:nvSpPr>
        <p:spPr>
          <a:xfrm>
            <a:off x="2928282" y="6812280"/>
            <a:ext cx="9237846" cy="45720"/>
          </a:xfrm>
          <a:prstGeom prst="rect">
            <a:avLst/>
          </a:prstGeom>
          <a:solidFill>
            <a:srgbClr val="138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8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F0B920-C785-A4FA-3266-866F09D8F4FA}"/>
              </a:ext>
            </a:extLst>
          </p:cNvPr>
          <p:cNvSpPr/>
          <p:nvPr userDrawn="1"/>
        </p:nvSpPr>
        <p:spPr>
          <a:xfrm>
            <a:off x="-1" y="6467444"/>
            <a:ext cx="1565973" cy="314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1224431-8043-6A2D-87D9-1B92C3FE08DD}"/>
              </a:ext>
            </a:extLst>
          </p:cNvPr>
          <p:cNvCxnSpPr/>
          <p:nvPr userDrawn="1"/>
        </p:nvCxnSpPr>
        <p:spPr>
          <a:xfrm>
            <a:off x="13860" y="831325"/>
            <a:ext cx="12164688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002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12954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Rectangle 6"/>
          <p:cNvSpPr/>
          <p:nvPr userDrawn="1"/>
        </p:nvSpPr>
        <p:spPr>
          <a:xfrm>
            <a:off x="1" y="-13547"/>
            <a:ext cx="12205547" cy="932723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3681" y="2"/>
            <a:ext cx="528321" cy="525060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01600" y="28789"/>
            <a:ext cx="10972800" cy="8587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01299" y="6597354"/>
            <a:ext cx="9793088" cy="4358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E:\TVS\TVS Credit New Identity\Corporate PPT\For PPT\TVS Credit Logo-01.png"/>
          <p:cNvPicPr>
            <a:picLocks noChangeAspect="1" noChangeArrowheads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3657" y="6369361"/>
            <a:ext cx="1420497" cy="2715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-14008" y="6424084"/>
            <a:ext cx="511663" cy="365125"/>
          </a:xfrm>
          <a:prstGeom prst="rect">
            <a:avLst/>
          </a:prstGeom>
        </p:spPr>
        <p:txBody>
          <a:bodyPr/>
          <a:lstStyle>
            <a:lvl1pPr>
              <a:defRPr sz="1467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2771CCCF-CF39-430E-99CC-5ACEF198A403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" name="Rectangle 1"/>
          <p:cNvSpPr/>
          <p:nvPr userDrawn="1"/>
        </p:nvSpPr>
        <p:spPr>
          <a:xfrm>
            <a:off x="-2020016" y="-1150788"/>
            <a:ext cx="16245583" cy="9146029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p:sp>
        <p:nvSpPr>
          <p:cNvPr id="4" name="fl" descr="Classification: Internal"/>
          <p:cNvSpPr txBox="1"/>
          <p:nvPr userDrawn="1"/>
        </p:nvSpPr>
        <p:spPr>
          <a:xfrm>
            <a:off x="0" y="6537960"/>
            <a:ext cx="12192000" cy="22326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l"/>
            <a:r>
              <a:rPr lang="en-US" sz="850" b="0" i="0" u="none" baseline="0">
                <a:solidFill>
                  <a:srgbClr val="000000"/>
                </a:solidFill>
                <a:latin typeface="Microsoft Sans Serif" panose="020B0604020202020204" pitchFamily="34" charset="0"/>
              </a:rPr>
              <a:t>Classification: </a:t>
            </a:r>
            <a:r>
              <a:rPr lang="en-US" sz="850" b="1" i="0" u="none" baseline="0">
                <a:solidFill>
                  <a:srgbClr val="4285F4"/>
                </a:solidFill>
                <a:latin typeface="Microsoft Sans Serif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873056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73" r:id="rId13"/>
    <p:sldLayoutId id="2147483674" r:id="rId14"/>
    <p:sldLayoutId id="2147483675" r:id="rId15"/>
    <p:sldLayoutId id="2147483683" r:id="rId16"/>
  </p:sldLayoutIdLst>
  <p:hf hdr="0" ftr="0" dt="0"/>
  <p:txStyles>
    <p:titleStyle>
      <a:lvl1pPr algn="l" defTabSz="1219140" rtl="0" eaLnBrk="1" latinLnBrk="0" hangingPunct="1">
        <a:spcBef>
          <a:spcPct val="0"/>
        </a:spcBef>
        <a:buNone/>
        <a:defRPr sz="32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7178" indent="-457178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50" indent="-380981" algn="l" defTabSz="121914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25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2133493" indent="-304784" algn="l" defTabSz="1219140" rtl="0" eaLnBrk="1" latinLnBrk="0" hangingPunct="1">
        <a:spcBef>
          <a:spcPct val="20000"/>
        </a:spcBef>
        <a:buFont typeface="Arial" pitchFamily="34" charset="0"/>
        <a:buChar char="–"/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062" indent="-304784" algn="l" defTabSz="1219140" rtl="0" eaLnBrk="1" latinLnBrk="0" hangingPunct="1">
        <a:spcBef>
          <a:spcPct val="20000"/>
        </a:spcBef>
        <a:buFont typeface="Arial" pitchFamily="34" charset="0"/>
        <a:buChar char="»"/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121914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121914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40EB3-B354-4530-9AE6-595805C2A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" y="22014"/>
            <a:ext cx="12003315" cy="85875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OMPL : Key Enhancements - </a:t>
            </a:r>
            <a:r>
              <a:rPr lang="en-US" sz="2800" dirty="0">
                <a:latin typeface="Arial"/>
                <a:cs typeface="Arial"/>
              </a:rPr>
              <a:t>Oct‘25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B9A756-D1D6-84B7-C4B6-CB210710037A}"/>
              </a:ext>
            </a:extLst>
          </p:cNvPr>
          <p:cNvSpPr txBox="1"/>
          <p:nvPr/>
        </p:nvSpPr>
        <p:spPr>
          <a:xfrm>
            <a:off x="6900857" y="6561683"/>
            <a:ext cx="43930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b="1" dirty="0">
                <a:latin typeface="Arial" panose="020B0604020202020204" pitchFamily="34" charset="0"/>
                <a:cs typeface="Arial" panose="020B0604020202020204" pitchFamily="34" charset="0"/>
              </a:rPr>
              <a:t>Dev Effort: S-Small, M-Medium, L-Large &amp; XL- Extra Large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05004D8-D729-ED32-F243-248043AD69B6}"/>
              </a:ext>
            </a:extLst>
          </p:cNvPr>
          <p:cNvGrpSpPr/>
          <p:nvPr/>
        </p:nvGrpSpPr>
        <p:grpSpPr>
          <a:xfrm>
            <a:off x="788501" y="6582079"/>
            <a:ext cx="6411511" cy="264500"/>
            <a:chOff x="507907" y="5885890"/>
            <a:chExt cx="6411511" cy="264500"/>
          </a:xfrm>
        </p:grpSpPr>
        <p:sp>
          <p:nvSpPr>
            <p:cNvPr id="14" name="TextBox 3">
              <a:extLst>
                <a:ext uri="{FF2B5EF4-FFF2-40B4-BE49-F238E27FC236}">
                  <a16:creationId xmlns:a16="http://schemas.microsoft.com/office/drawing/2014/main" id="{F306C833-4AF7-833E-EFC7-E9F06C8673FA}"/>
                </a:ext>
              </a:extLst>
            </p:cNvPr>
            <p:cNvSpPr txBox="1"/>
            <p:nvPr/>
          </p:nvSpPr>
          <p:spPr>
            <a:xfrm>
              <a:off x="772992" y="5885890"/>
              <a:ext cx="1153391" cy="253917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t">
              <a:sp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>
                  <a:latin typeface="Arial" panose="020B0604020202020204" pitchFamily="34" charset="0"/>
                  <a:cs typeface="Arial" panose="020B0604020202020204" pitchFamily="34" charset="0"/>
                </a:rPr>
                <a:t>Action over</a:t>
              </a:r>
              <a:r>
                <a:rPr lang="en-US" sz="1000" baseline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81E7D66-FB4B-12F8-60A7-F8C66B2104EA}"/>
                </a:ext>
              </a:extLst>
            </p:cNvPr>
            <p:cNvSpPr/>
            <p:nvPr/>
          </p:nvSpPr>
          <p:spPr>
            <a:xfrm>
              <a:off x="507907" y="5908353"/>
              <a:ext cx="182880" cy="18288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TextBox 5">
              <a:extLst>
                <a:ext uri="{FF2B5EF4-FFF2-40B4-BE49-F238E27FC236}">
                  <a16:creationId xmlns:a16="http://schemas.microsoft.com/office/drawing/2014/main" id="{7EDF7170-FE1E-F3AB-C92F-07544F488678}"/>
                </a:ext>
              </a:extLst>
            </p:cNvPr>
            <p:cNvSpPr txBox="1"/>
            <p:nvPr/>
          </p:nvSpPr>
          <p:spPr>
            <a:xfrm>
              <a:off x="1872976" y="5896474"/>
              <a:ext cx="1419860" cy="253916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t">
              <a:spAutoFit/>
            </a:bodyPr>
            <a:lstStyle>
              <a:defPPr>
                <a:defRPr lang="en-US"/>
              </a:defPPr>
              <a:lvl1pPr indent="0">
                <a:defRPr sz="1050">
                  <a:latin typeface="Raleway" panose="020B0603030101060003" pitchFamily="34" charset="0"/>
                </a:defRPr>
              </a:lvl1pPr>
              <a:lvl2pPr indent="0">
                <a:defRPr sz="1100"/>
              </a:lvl2pPr>
              <a:lvl3pPr indent="0">
                <a:defRPr sz="1100"/>
              </a:lvl3pPr>
              <a:lvl4pPr indent="0">
                <a:defRPr sz="1100"/>
              </a:lvl4pPr>
              <a:lvl5pPr indent="0">
                <a:defRPr sz="1100"/>
              </a:lvl5pPr>
              <a:lvl6pPr indent="0">
                <a:defRPr sz="1100"/>
              </a:lvl6pPr>
              <a:lvl7pPr indent="0">
                <a:defRPr sz="1100"/>
              </a:lvl7pPr>
              <a:lvl8pPr indent="0">
                <a:defRPr sz="1100"/>
              </a:lvl8pPr>
              <a:lvl9pPr indent="0">
                <a:defRPr sz="1100"/>
              </a:lvl9pPr>
            </a:lstStyle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Action in Progress 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6CFFBA7-3EAB-4D0C-F10C-BE47CE7FE5B3}"/>
                </a:ext>
              </a:extLst>
            </p:cNvPr>
            <p:cNvSpPr/>
            <p:nvPr/>
          </p:nvSpPr>
          <p:spPr>
            <a:xfrm>
              <a:off x="1622569" y="5922208"/>
              <a:ext cx="182880" cy="18288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7">
              <a:extLst>
                <a:ext uri="{FF2B5EF4-FFF2-40B4-BE49-F238E27FC236}">
                  <a16:creationId xmlns:a16="http://schemas.microsoft.com/office/drawing/2014/main" id="{20CF605E-AE05-945C-DBC6-44B29747F934}"/>
                </a:ext>
              </a:extLst>
            </p:cNvPr>
            <p:cNvSpPr txBox="1"/>
            <p:nvPr/>
          </p:nvSpPr>
          <p:spPr>
            <a:xfrm>
              <a:off x="3328001" y="5885890"/>
              <a:ext cx="1847526" cy="253916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t">
              <a:sp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Progress</a:t>
              </a:r>
              <a:r>
                <a:rPr lang="en-US" sz="1000" baseline="0" dirty="0">
                  <a:latin typeface="Arial" panose="020B0604020202020204" pitchFamily="34" charset="0"/>
                  <a:cs typeface="Arial" panose="020B0604020202020204" pitchFamily="34" charset="0"/>
                </a:rPr>
                <a:t> not as per plan</a:t>
              </a:r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56A0EE4-D329-8588-FA90-88A6760E9242}"/>
                </a:ext>
              </a:extLst>
            </p:cNvPr>
            <p:cNvSpPr/>
            <p:nvPr/>
          </p:nvSpPr>
          <p:spPr>
            <a:xfrm>
              <a:off x="3129774" y="5922208"/>
              <a:ext cx="182880" cy="18288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TextBox 9">
              <a:extLst>
                <a:ext uri="{FF2B5EF4-FFF2-40B4-BE49-F238E27FC236}">
                  <a16:creationId xmlns:a16="http://schemas.microsoft.com/office/drawing/2014/main" id="{2EF6FA90-BF27-33A8-BCE7-590BC8A9348E}"/>
                </a:ext>
              </a:extLst>
            </p:cNvPr>
            <p:cNvSpPr txBox="1"/>
            <p:nvPr/>
          </p:nvSpPr>
          <p:spPr>
            <a:xfrm>
              <a:off x="5443308" y="5889679"/>
              <a:ext cx="1476110" cy="253916"/>
            </a:xfrm>
            <a:prstGeom prst="rect">
              <a:avLst/>
            </a:prstGeom>
            <a:noFill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wrap="square" rtlCol="0" anchor="t">
              <a:spAutoFit/>
            </a:bodyPr>
            <a:lstStyle>
              <a:lvl1pPr marL="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Action yet to start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537E263-4BCF-0BCA-5726-6EAB23997F45}"/>
                </a:ext>
              </a:extLst>
            </p:cNvPr>
            <p:cNvSpPr/>
            <p:nvPr/>
          </p:nvSpPr>
          <p:spPr>
            <a:xfrm>
              <a:off x="5213008" y="5920867"/>
              <a:ext cx="182880" cy="18288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1298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o2H4W1J7mY2OP1dTwc.xg"/>
</p:tagLst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726AF866EB949905C263263F22C69" ma:contentTypeVersion="15" ma:contentTypeDescription="Create a new document." ma:contentTypeScope="" ma:versionID="707a0f7d09b5cd107bf28a52b74ff8b5">
  <xsd:schema xmlns:xsd="http://www.w3.org/2001/XMLSchema" xmlns:xs="http://www.w3.org/2001/XMLSchema" xmlns:p="http://schemas.microsoft.com/office/2006/metadata/properties" xmlns:ns2="d3889125-aaee-429f-b9ed-0a9b40d846ab" xmlns:ns3="4d1091d3-8b75-4c53-b255-1851c8860f82" targetNamespace="http://schemas.microsoft.com/office/2006/metadata/properties" ma:root="true" ma:fieldsID="4237103bcd9844aa107ac360b1e9b23f" ns2:_="" ns3:_="">
    <xsd:import namespace="d3889125-aaee-429f-b9ed-0a9b40d846ab"/>
    <xsd:import namespace="4d1091d3-8b75-4c53-b255-1851c8860f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89125-aaee-429f-b9ed-0a9b40d846a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694d9d8-dba4-45a1-a897-9a61e372a2a9}" ma:internalName="TaxCatchAll" ma:showField="CatchAllData" ma:web="d3889125-aaee-429f-b9ed-0a9b40d846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091d3-8b75-4c53-b255-1851c8860f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f1bc4c63-2640-44b8-a5e3-038ec50acd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1091d3-8b75-4c53-b255-1851c8860f82">
      <Terms xmlns="http://schemas.microsoft.com/office/infopath/2007/PartnerControls"/>
    </lcf76f155ced4ddcb4097134ff3c332f>
    <TaxCatchAll xmlns="d3889125-aaee-429f-b9ed-0a9b40d846ab" xsi:nil="true"/>
    <SharedWithUsers xmlns="d3889125-aaee-429f-b9ed-0a9b40d846ab">
      <UserInfo>
        <DisplayName>Ram Sundar B (Fintech/Chennai)</DisplayName>
        <AccountId>81</AccountId>
        <AccountType/>
      </UserInfo>
      <UserInfo>
        <DisplayName>Rengaraj S (Product Management/Chennai)</DisplayName>
        <AccountId>256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EFBF0D-79B2-4082-91C0-8B6AE13B302F}">
  <ds:schemaRefs>
    <ds:schemaRef ds:uri="4d1091d3-8b75-4c53-b255-1851c8860f82"/>
    <ds:schemaRef ds:uri="d3889125-aaee-429f-b9ed-0a9b40d846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B42909D-B837-4255-8B0D-CEF3F0743DF1}">
  <ds:schemaRefs>
    <ds:schemaRef ds:uri="4d1091d3-8b75-4c53-b255-1851c8860f82"/>
    <ds:schemaRef ds:uri="d3889125-aaee-429f-b9ed-0a9b40d846a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4F805CF-009F-4B0F-856A-CD5DED1FE6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35</Words>
  <Application>Microsoft Office PowerPoint</Application>
  <PresentationFormat>Widescreen</PresentationFormat>
  <Paragraphs>7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Microsoft Sans Serif</vt:lpstr>
      <vt:lpstr>2_Office Theme</vt:lpstr>
      <vt:lpstr>think-cell Slide</vt:lpstr>
      <vt:lpstr>OMPL : Key Enhancements - Oct‘25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Transformation Projects – One LOS &amp; One LMS</dc:title>
  <dc:creator>Juliet Celin Prabha J (IT/Chennai)</dc:creator>
  <cp:lastModifiedBy>Tirthankar Nath (IT/Guwahati)</cp:lastModifiedBy>
  <cp:revision>5</cp:revision>
  <dcterms:created xsi:type="dcterms:W3CDTF">2024-05-08T05:47:52Z</dcterms:created>
  <dcterms:modified xsi:type="dcterms:W3CDTF">2025-12-04T04:43:45Z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0x01010024A726AF866EB949905C263263F22C69</vt:lpwstr>
  </property>
  <property fmtid="{D5CDD505-2E9C-101B-9397-08002B2CF9AE}" pid="3" name="MediaServiceImageTags">
    <vt:lpwstr/>
  </property>
  <property fmtid="{D5CDD505-2E9C-101B-9397-08002B2CF9AE}" pid="4" name="MSIP_Label_6acbd73f-3615-48fc-b186-fc426e09ae88_Enabled">
    <vt:lpwstr>true</vt:lpwstr>
  </property>
  <property fmtid="{D5CDD505-2E9C-101B-9397-08002B2CF9AE}" pid="5" name="MSIP_Label_6acbd73f-3615-48fc-b186-fc426e09ae88_SetDate">
    <vt:lpwstr>2024-05-15T05:25:54Z</vt:lpwstr>
  </property>
  <property fmtid="{D5CDD505-2E9C-101B-9397-08002B2CF9AE}" pid="6" name="MSIP_Label_6acbd73f-3615-48fc-b186-fc426e09ae88_Method">
    <vt:lpwstr>Privileged</vt:lpwstr>
  </property>
  <property fmtid="{D5CDD505-2E9C-101B-9397-08002B2CF9AE}" pid="7" name="MSIP_Label_6acbd73f-3615-48fc-b186-fc426e09ae88_Name">
    <vt:lpwstr>Internal - TVS Credits</vt:lpwstr>
  </property>
  <property fmtid="{D5CDD505-2E9C-101B-9397-08002B2CF9AE}" pid="8" name="MSIP_Label_6acbd73f-3615-48fc-b186-fc426e09ae88_SiteId">
    <vt:lpwstr>125330db-c70b-4f5e-81c6-23e86d3c1f3a</vt:lpwstr>
  </property>
  <property fmtid="{D5CDD505-2E9C-101B-9397-08002B2CF9AE}" pid="9" name="MSIP_Label_6acbd73f-3615-48fc-b186-fc426e09ae88_ActionId">
    <vt:lpwstr>8c073f4a-077f-4f2b-90bf-44bfe4e92ac1</vt:lpwstr>
  </property>
  <property fmtid="{D5CDD505-2E9C-101B-9397-08002B2CF9AE}" pid="10" name="MSIP_Label_6acbd73f-3615-48fc-b186-fc426e09ae88_ContentBits">
    <vt:lpwstr>0</vt:lpwstr>
  </property>
  <property fmtid="{D5CDD505-2E9C-101B-9397-08002B2CF9AE}" pid="11" name="TitusGUID">
    <vt:lpwstr>8178eed8-7b47-46ea-8b27-1b3c7b5398e6</vt:lpwstr>
  </property>
  <property fmtid="{D5CDD505-2E9C-101B-9397-08002B2CF9AE}" pid="12" name="Classification">
    <vt:lpwstr>TVSC_INT3RNAL</vt:lpwstr>
  </property>
</Properties>
</file>